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[names], and this is VitalPower. In Puerto Rico, thousands of people depend on electricity to stay alive: oxygen machines, ventilators, insulin that has to stay cold. When the power goes out, somebody should call them. Today nobody knows who to call first. VitalPower answers that one question.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Federal Medicare data counts more than forty-four thousand people in Puerto Rico who use medical equipment that needs electricity. The electric company's own list has about three thousand. Journalists at the Centro de Periodismo Investigativo reported last year that no governor has created a full registry since Hurricane Maria. Many home oxygen machines have no battery at all. So after an outage, responders do not know who to call first.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VitalPower does three things. One: a caregiver registers a patient just by talking, checks the form, and gives consent. Two: every three minutes we read LUMA's public outage data. When a patient's area loses power, the family gets one question: do you have power at home? Three: the responder organization sees a ranked call list, with the reason next to every name.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one app with three views. Patients and caregivers register and answer the outage question. Organizations, like a health plan or a municipal emergency office, get the call list for their towns. Administrators approve organizations and watch the data. Let me show you one patient from start to finish, using a real outage we recorded this week. [Switch to the demo here, or play the video.] (About 20 seconds before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matters most in healthcare: trust. So the AI never decides who goes first. The order comes from a short list of fixed rules, like confirmed no power and four hours of battery or less, and the reason is shown next to every name. AI only saves time: it fills the form, reads the reply, and drafts the call script. A person checks every one, and if the AI is down, people do it by hand.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know HHS emPOWER. Its public map counts Medicare patients by ZIP code. Names are released only to health authorities, in an emergency, and only for Medicare, so people on Plan Vital are not in it. The federal map tells you how many. VitalPower tells you who to call first, any day. What comes next: a small plug-in sensor in the patient's home, with its own battery and cell signal, that tells us the moment the power goes out, so we do not depend only on the electric company's data. Sensors like this already exist, so it is buildable. Then text messages, and a first pilot. Thank you.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VitalPower logo: a house with a heart and a power plug">    </p:cNvPr>
          <p:cNvPicPr>
            <a:picLocks noChangeAspect="1"/>
          </p:cNvPicPr>
          <p:nvPr/>
        </p:nvPicPr>
        <p:blipFill>
          <a:blip r:embed="rId1"/>
          <a:srcRect l="0" r="0" t="0" b="0"/>
          <a:stretch/>
        </p:blipFill>
        <p:spPr>
          <a:xfrm>
            <a:off x="812800" y="812800"/>
            <a:ext cx="2387600" cy="812800"/>
          </a:xfrm>
          <a:prstGeom prst="rect">
            <a:avLst/>
          </a:prstGeom>
        </p:spPr>
      </p:pic>
      <p:sp>
        <p:nvSpPr>
          <p:cNvPr id="3" name="Text 0"/>
          <p:cNvSpPr/>
          <p:nvPr/>
        </p:nvSpPr>
        <p:spPr>
          <a:xfrm>
            <a:off x="812800" y="2364879"/>
            <a:ext cx="9810750" cy="2494161"/>
          </a:xfrm>
          <a:prstGeom prst="rect">
            <a:avLst/>
          </a:prstGeom>
          <a:noFill/>
          <a:ln/>
        </p:spPr>
        <p:txBody>
          <a:bodyPr wrap="square" lIns="0" tIns="0" rIns="0" bIns="0" rtlCol="0" anchor="t">
            <a:normAutofit/>
          </a:bodyPr>
          <a:lstStyle/>
          <a:p>
            <a:pPr algn="l" indent="0" marL="0">
              <a:lnSpc>
                <a:spcPts val="6480"/>
              </a:lnSpc>
              <a:buNone/>
            </a:pPr>
            <a:r>
              <a:rPr lang="en-US" sz="6000" b="1" dirty="0">
                <a:solidFill>
                  <a:srgbClr val="F4F1EA"/>
                </a:solidFill>
                <a:latin typeface="Libre Baskerville" pitchFamily="18" charset="0"/>
                <a:ea typeface="Libre Baskerville" pitchFamily="18" charset="-122"/>
                <a:cs typeface="Libre Baskerville" pitchFamily="18" charset="-120"/>
              </a:rPr>
              <a:t>Know who to call first when the power goes out.</a:t>
            </a:r>
            <a:endParaRPr lang="en-US" sz="6000" dirty="0"/>
          </a:p>
        </p:txBody>
      </p:sp>
      <p:sp>
        <p:nvSpPr>
          <p:cNvPr id="4" name="Text 1"/>
          <p:cNvSpPr/>
          <p:nvPr/>
        </p:nvSpPr>
        <p:spPr>
          <a:xfrm>
            <a:off x="812800" y="5087640"/>
            <a:ext cx="850265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9C4D6"/>
                </a:solidFill>
                <a:latin typeface="Public Sans" pitchFamily="34" charset="0"/>
                <a:ea typeface="Public Sans" pitchFamily="34" charset="-122"/>
                <a:cs typeface="Public Sans" pitchFamily="34" charset="-120"/>
              </a:rPr>
              <a:t>A call list for the people in Puerto Rico who need electricity to stay alive.</a:t>
            </a:r>
            <a:endParaRPr lang="en-US" sz="22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6"/>
                </a:solidFill>
                <a:latin typeface="Public Sans" pitchFamily="34" charset="0"/>
                <a:ea typeface="Public Sans" pitchFamily="34" charset="-122"/>
                <a:cs typeface="Public Sans" pitchFamily="34" charset="-120"/>
              </a:rPr>
              <a:t>[Team names] · Caribbean AI Summit Healthcare Hackathon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9"/>
                </a:solidFill>
                <a:latin typeface="Public Sans" pitchFamily="34" charset="0"/>
                <a:ea typeface="Public Sans" pitchFamily="34" charset="-122"/>
                <a:cs typeface="Public Sans" pitchFamily="34" charset="-120"/>
              </a:rPr>
              <a:t>The problem</a:t>
            </a:r>
            <a:endParaRPr lang="en-US" sz="1400" dirty="0"/>
          </a:p>
        </p:txBody>
      </p:sp>
      <p:sp>
        <p:nvSpPr>
          <p:cNvPr id="3" name="Text 1"/>
          <p:cNvSpPr/>
          <p:nvPr/>
        </p:nvSpPr>
        <p:spPr>
          <a:xfrm>
            <a:off x="812800" y="1188690"/>
            <a:ext cx="10203180" cy="1415157"/>
          </a:xfrm>
          <a:prstGeom prst="rect">
            <a:avLst/>
          </a:prstGeom>
          <a:noFill/>
          <a:ln/>
        </p:spPr>
        <p:txBody>
          <a:bodyPr wrap="square" lIns="0" tIns="0" rIns="0" bIns="0" rtlCol="0" anchor="t">
            <a:normAutofit/>
          </a:bodyPr>
          <a:lstStyle/>
          <a:p>
            <a:pPr algn="l" indent="0" marL="0">
              <a:lnSpc>
                <a:spcPts val="3648"/>
              </a:lnSpc>
              <a:buNone/>
            </a:pPr>
            <a:r>
              <a:rPr lang="en-US" sz="3200" b="1" dirty="0">
                <a:solidFill>
                  <a:srgbClr val="14213D"/>
                </a:solidFill>
                <a:latin typeface="Libre Baskerville" pitchFamily="18" charset="0"/>
                <a:ea typeface="Libre Baskerville" pitchFamily="18" charset="-122"/>
                <a:cs typeface="Libre Baskerville" pitchFamily="18" charset="-120"/>
              </a:rPr>
              <a:t>Puerto Rico has no complete list of the people who depend on power for medical equipment.</a:t>
            </a:r>
            <a:endParaRPr lang="en-US" sz="3200" dirty="0"/>
          </a:p>
        </p:txBody>
      </p:sp>
      <p:sp>
        <p:nvSpPr>
          <p:cNvPr id="4" name="Shape 2"/>
          <p:cNvSpPr/>
          <p:nvPr/>
        </p:nvSpPr>
        <p:spPr>
          <a:xfrm>
            <a:off x="815975" y="3103463"/>
            <a:ext cx="3380284" cy="1850380"/>
          </a:xfrm>
          <a:prstGeom prst="roundRect">
            <a:avLst>
              <a:gd name="adj" fmla="val 5319"/>
            </a:avLst>
          </a:prstGeom>
          <a:solidFill>
            <a:srgbClr val="FFFFFF"/>
          </a:solidFill>
          <a:ln w="6350">
            <a:solidFill>
              <a:srgbClr val="DDD6C8"/>
            </a:solidFill>
            <a:prstDash val="solid"/>
          </a:ln>
        </p:spPr>
      </p:sp>
      <p:sp>
        <p:nvSpPr>
          <p:cNvPr id="5" name="Text 3"/>
          <p:cNvSpPr/>
          <p:nvPr/>
        </p:nvSpPr>
        <p:spPr>
          <a:xfrm>
            <a:off x="1073150" y="3360638"/>
            <a:ext cx="295191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6E69"/>
                </a:solidFill>
                <a:latin typeface="Libre Baskerville" pitchFamily="18" charset="0"/>
                <a:ea typeface="Libre Baskerville" pitchFamily="18" charset="-122"/>
                <a:cs typeface="Libre Baskerville" pitchFamily="18" charset="-120"/>
              </a:rPr>
              <a:t>44,483</a:t>
            </a:r>
            <a:endParaRPr lang="en-US" sz="3200" dirty="0"/>
          </a:p>
        </p:txBody>
      </p:sp>
      <p:sp>
        <p:nvSpPr>
          <p:cNvPr id="6" name="Text 4"/>
          <p:cNvSpPr/>
          <p:nvPr/>
        </p:nvSpPr>
        <p:spPr>
          <a:xfrm>
            <a:off x="1073150" y="3896568"/>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Medicare patients in Puerto Rico who use medical equipment that needs electricity.</a:t>
            </a:r>
            <a:endParaRPr lang="en-US" sz="1500" dirty="0"/>
          </a:p>
        </p:txBody>
      </p:sp>
      <p:sp>
        <p:nvSpPr>
          <p:cNvPr id="7" name="Shape 5"/>
          <p:cNvSpPr/>
          <p:nvPr/>
        </p:nvSpPr>
        <p:spPr>
          <a:xfrm>
            <a:off x="4405809" y="3103463"/>
            <a:ext cx="3380333" cy="1850380"/>
          </a:xfrm>
          <a:prstGeom prst="roundRect">
            <a:avLst>
              <a:gd name="adj" fmla="val 5319"/>
            </a:avLst>
          </a:prstGeom>
          <a:solidFill>
            <a:srgbClr val="FFFFFF"/>
          </a:solidFill>
          <a:ln w="6350">
            <a:solidFill>
              <a:srgbClr val="DDD6C8"/>
            </a:solidFill>
            <a:prstDash val="solid"/>
          </a:ln>
        </p:spPr>
      </p:sp>
      <p:sp>
        <p:nvSpPr>
          <p:cNvPr id="8" name="Text 6"/>
          <p:cNvSpPr/>
          <p:nvPr/>
        </p:nvSpPr>
        <p:spPr>
          <a:xfrm>
            <a:off x="4662984" y="3360638"/>
            <a:ext cx="295196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6E69"/>
                </a:solidFill>
                <a:latin typeface="Libre Baskerville" pitchFamily="18" charset="0"/>
                <a:ea typeface="Libre Baskerville" pitchFamily="18" charset="-122"/>
                <a:cs typeface="Libre Baskerville" pitchFamily="18" charset="-120"/>
              </a:rPr>
              <a:t>About 3,000</a:t>
            </a:r>
            <a:endParaRPr lang="en-US" sz="3200" dirty="0"/>
          </a:p>
        </p:txBody>
      </p:sp>
      <p:sp>
        <p:nvSpPr>
          <p:cNvPr id="9" name="Text 7"/>
          <p:cNvSpPr/>
          <p:nvPr/>
        </p:nvSpPr>
        <p:spPr>
          <a:xfrm>
            <a:off x="4662984" y="3896568"/>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People on the electric company's own list of life-preserving equipment.</a:t>
            </a:r>
            <a:endParaRPr lang="en-US" sz="1500" dirty="0"/>
          </a:p>
        </p:txBody>
      </p:sp>
      <p:sp>
        <p:nvSpPr>
          <p:cNvPr id="10" name="Shape 8"/>
          <p:cNvSpPr/>
          <p:nvPr/>
        </p:nvSpPr>
        <p:spPr>
          <a:xfrm>
            <a:off x="7995692" y="3103463"/>
            <a:ext cx="3380333" cy="1850380"/>
          </a:xfrm>
          <a:prstGeom prst="roundRect">
            <a:avLst>
              <a:gd name="adj" fmla="val 5319"/>
            </a:avLst>
          </a:prstGeom>
          <a:solidFill>
            <a:srgbClr val="FFFFFF"/>
          </a:solidFill>
          <a:ln w="6350">
            <a:solidFill>
              <a:srgbClr val="DDD6C8"/>
            </a:solidFill>
            <a:prstDash val="solid"/>
          </a:ln>
        </p:spPr>
      </p:sp>
      <p:sp>
        <p:nvSpPr>
          <p:cNvPr id="11" name="Text 9"/>
          <p:cNvSpPr/>
          <p:nvPr/>
        </p:nvSpPr>
        <p:spPr>
          <a:xfrm>
            <a:off x="8252867" y="3360638"/>
            <a:ext cx="295196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6E69"/>
                </a:solidFill>
                <a:latin typeface="Libre Baskerville" pitchFamily="18" charset="0"/>
                <a:ea typeface="Libre Baskerville" pitchFamily="18" charset="-122"/>
                <a:cs typeface="Libre Baskerville" pitchFamily="18" charset="-120"/>
              </a:rPr>
              <a:t>Hours</a:t>
            </a:r>
            <a:endParaRPr lang="en-US" sz="3200" dirty="0"/>
          </a:p>
        </p:txBody>
      </p:sp>
      <p:sp>
        <p:nvSpPr>
          <p:cNvPr id="12" name="Text 10"/>
          <p:cNvSpPr/>
          <p:nvPr/>
        </p:nvSpPr>
        <p:spPr>
          <a:xfrm>
            <a:off x="8252867" y="3896568"/>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Many home oxygen machines have no battery. Portable ones and ventilators run a few hours.</a:t>
            </a:r>
            <a:endParaRPr lang="en-US" sz="1500" dirty="0"/>
          </a:p>
        </p:txBody>
      </p:sp>
      <p:sp>
        <p:nvSpPr>
          <p:cNvPr id="13" name="Text 11"/>
          <p:cNvSpPr/>
          <p:nvPr/>
        </p:nvSpPr>
        <p:spPr>
          <a:xfrm>
            <a:off x="812800" y="5478810"/>
            <a:ext cx="9810750"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B6E69"/>
                </a:solidFill>
                <a:latin typeface="Libre Baskerville" pitchFamily="18" charset="0"/>
                <a:ea typeface="Libre Baskerville" pitchFamily="18" charset="-122"/>
                <a:cs typeface="Libre Baskerville" pitchFamily="18" charset="-120"/>
              </a:rPr>
              <a:t>So when the power goes out, nobody knows who to call first.</a:t>
            </a:r>
            <a:endParaRPr lang="en-US" sz="2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F"/>
                </a:solidFill>
                <a:latin typeface="Public Sans" pitchFamily="34" charset="0"/>
                <a:ea typeface="Public Sans" pitchFamily="34" charset="-122"/>
                <a:cs typeface="Public Sans" pitchFamily="34" charset="-120"/>
              </a:rPr>
              <a:t>Sources: HHS emPOWER Map, October 2026 · LUMA, August 2024 · Centro de Periodismo Investigativo, 2024 and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9"/>
                </a:solidFill>
                <a:latin typeface="Public Sans" pitchFamily="34" charset="0"/>
                <a:ea typeface="Public Sans" pitchFamily="34" charset="-122"/>
                <a:cs typeface="Public Sans" pitchFamily="34" charset="-120"/>
              </a:rPr>
              <a:t>How it works</a:t>
            </a:r>
            <a:endParaRPr lang="en-US" sz="1400" dirty="0"/>
          </a:p>
        </p:txBody>
      </p:sp>
      <p:sp>
        <p:nvSpPr>
          <p:cNvPr id="3" name="Text 1"/>
          <p:cNvSpPr/>
          <p:nvPr/>
        </p:nvSpPr>
        <p:spPr>
          <a:xfrm>
            <a:off x="812800" y="1188690"/>
            <a:ext cx="9810750" cy="992584"/>
          </a:xfrm>
          <a:prstGeom prst="rect">
            <a:avLst/>
          </a:prstGeom>
          <a:noFill/>
          <a:ln/>
        </p:spPr>
        <p:txBody>
          <a:bodyPr wrap="square" lIns="0" tIns="0" rIns="0" bIns="0" rtlCol="0" anchor="t">
            <a:normAutofit/>
          </a:bodyPr>
          <a:lstStyle/>
          <a:p>
            <a:pPr algn="l" indent="0" marL="0">
              <a:lnSpc>
                <a:spcPts val="3808"/>
              </a:lnSpc>
              <a:buNone/>
            </a:pPr>
            <a:r>
              <a:rPr lang="en-US" sz="3400" b="1" dirty="0">
                <a:solidFill>
                  <a:srgbClr val="14213D"/>
                </a:solidFill>
                <a:latin typeface="Libre Baskerville" pitchFamily="18" charset="0"/>
                <a:ea typeface="Libre Baskerville" pitchFamily="18" charset="-122"/>
                <a:cs typeface="Libre Baskerville" pitchFamily="18" charset="-120"/>
              </a:rPr>
              <a:t>From an outage to the right phone call, in three steps.</a:t>
            </a:r>
            <a:endParaRPr lang="en-US" sz="3400" dirty="0"/>
          </a:p>
        </p:txBody>
      </p:sp>
      <p:sp>
        <p:nvSpPr>
          <p:cNvPr id="4" name="Shape 2"/>
          <p:cNvSpPr/>
          <p:nvPr/>
        </p:nvSpPr>
        <p:spPr>
          <a:xfrm>
            <a:off x="812800" y="3448050"/>
            <a:ext cx="3014117" cy="0"/>
          </a:xfrm>
          <a:prstGeom prst="line">
            <a:avLst/>
          </a:prstGeom>
          <a:noFill/>
          <a:ln w="38100">
            <a:solidFill>
              <a:srgbClr val="14213D"/>
            </a:solidFill>
            <a:prstDash val="solid"/>
          </a:ln>
        </p:spPr>
      </p:sp>
      <p:sp>
        <p:nvSpPr>
          <p:cNvPr id="5" name="Text 3"/>
          <p:cNvSpPr/>
          <p:nvPr/>
        </p:nvSpPr>
        <p:spPr>
          <a:xfrm>
            <a:off x="812800" y="3670300"/>
            <a:ext cx="310454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9"/>
                </a:solidFill>
                <a:latin typeface="Libre Baskerville" pitchFamily="18" charset="0"/>
                <a:ea typeface="Libre Baskerville" pitchFamily="18" charset="-122"/>
                <a:cs typeface="Libre Baskerville" pitchFamily="18" charset="-120"/>
              </a:rPr>
              <a:t>1</a:t>
            </a:r>
            <a:endParaRPr lang="en-US" sz="4800" dirty="0"/>
          </a:p>
        </p:txBody>
      </p:sp>
      <p:sp>
        <p:nvSpPr>
          <p:cNvPr id="6" name="Text 4"/>
          <p:cNvSpPr/>
          <p:nvPr/>
        </p:nvSpPr>
        <p:spPr>
          <a:xfrm>
            <a:off x="812800" y="4356100"/>
            <a:ext cx="310454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A caregiver registers the patient</a:t>
            </a:r>
            <a:endParaRPr lang="en-US" sz="2000" dirty="0"/>
          </a:p>
        </p:txBody>
      </p:sp>
      <p:sp>
        <p:nvSpPr>
          <p:cNvPr id="7" name="Text 5"/>
          <p:cNvSpPr/>
          <p:nvPr/>
        </p:nvSpPr>
        <p:spPr>
          <a:xfrm>
            <a:off x="812800" y="5041900"/>
            <a:ext cx="310454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They say it out loud. The form fills itself in, they check it and give consent.</a:t>
            </a:r>
            <a:endParaRPr lang="en-US" sz="1500" dirty="0"/>
          </a:p>
        </p:txBody>
      </p:sp>
      <p:pic>
        <p:nvPicPr>
          <p:cNvPr id="8" name="Image 0" descr="arrow-right">    </p:cNvPr>
          <p:cNvPicPr>
            <a:picLocks noChangeAspect="1"/>
          </p:cNvPicPr>
          <p:nvPr/>
        </p:nvPicPr>
        <p:blipFill>
          <a:blip r:embed="rId1"/>
          <a:srcRect l="0" r="0" t="0" b="0"/>
          <a:stretch/>
        </p:blipFill>
        <p:spPr>
          <a:xfrm>
            <a:off x="3979317" y="4508500"/>
            <a:ext cx="457200" cy="254000"/>
          </a:xfrm>
          <a:prstGeom prst="rect">
            <a:avLst/>
          </a:prstGeom>
        </p:spPr>
      </p:pic>
      <p:sp>
        <p:nvSpPr>
          <p:cNvPr id="9" name="Shape 6"/>
          <p:cNvSpPr/>
          <p:nvPr/>
        </p:nvSpPr>
        <p:spPr>
          <a:xfrm>
            <a:off x="4588917" y="3448050"/>
            <a:ext cx="3014166" cy="0"/>
          </a:xfrm>
          <a:prstGeom prst="line">
            <a:avLst/>
          </a:prstGeom>
          <a:noFill/>
          <a:ln w="38100">
            <a:solidFill>
              <a:srgbClr val="14213D"/>
            </a:solidFill>
            <a:prstDash val="solid"/>
          </a:ln>
        </p:spPr>
      </p:sp>
      <p:sp>
        <p:nvSpPr>
          <p:cNvPr id="10" name="Text 7"/>
          <p:cNvSpPr/>
          <p:nvPr/>
        </p:nvSpPr>
        <p:spPr>
          <a:xfrm>
            <a:off x="4588917" y="3670300"/>
            <a:ext cx="310459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9"/>
                </a:solidFill>
                <a:latin typeface="Libre Baskerville" pitchFamily="18" charset="0"/>
                <a:ea typeface="Libre Baskerville" pitchFamily="18" charset="-122"/>
                <a:cs typeface="Libre Baskerville" pitchFamily="18" charset="-120"/>
              </a:rPr>
              <a:t>2</a:t>
            </a:r>
            <a:endParaRPr lang="en-US" sz="4800" dirty="0"/>
          </a:p>
        </p:txBody>
      </p:sp>
      <p:sp>
        <p:nvSpPr>
          <p:cNvPr id="11" name="Text 8"/>
          <p:cNvSpPr/>
          <p:nvPr/>
        </p:nvSpPr>
        <p:spPr>
          <a:xfrm>
            <a:off x="4588917" y="4356100"/>
            <a:ext cx="310459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We watch for outages</a:t>
            </a:r>
            <a:endParaRPr lang="en-US" sz="2000" dirty="0"/>
          </a:p>
        </p:txBody>
      </p:sp>
      <p:sp>
        <p:nvSpPr>
          <p:cNvPr id="12" name="Text 9"/>
          <p:cNvSpPr/>
          <p:nvPr/>
        </p:nvSpPr>
        <p:spPr>
          <a:xfrm>
            <a:off x="4588917" y="4737100"/>
            <a:ext cx="310459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Every 3 minutes we read LUMA's public outage data and ask the family: do you have power?</a:t>
            </a:r>
            <a:endParaRPr lang="en-US" sz="1500" dirty="0"/>
          </a:p>
        </p:txBody>
      </p:sp>
      <p:pic>
        <p:nvPicPr>
          <p:cNvPr id="13" name="Image 1" descr="arrow-right">    </p:cNvPr>
          <p:cNvPicPr>
            <a:picLocks noChangeAspect="1"/>
          </p:cNvPicPr>
          <p:nvPr/>
        </p:nvPicPr>
        <p:blipFill>
          <a:blip r:embed="rId2"/>
          <a:srcRect l="0" r="0" t="0" b="0"/>
          <a:stretch/>
        </p:blipFill>
        <p:spPr>
          <a:xfrm>
            <a:off x="7755483" y="4508500"/>
            <a:ext cx="457200" cy="254000"/>
          </a:xfrm>
          <a:prstGeom prst="rect">
            <a:avLst/>
          </a:prstGeom>
        </p:spPr>
      </p:pic>
      <p:sp>
        <p:nvSpPr>
          <p:cNvPr id="14" name="Shape 10"/>
          <p:cNvSpPr/>
          <p:nvPr/>
        </p:nvSpPr>
        <p:spPr>
          <a:xfrm>
            <a:off x="8365083" y="3448050"/>
            <a:ext cx="3014117" cy="0"/>
          </a:xfrm>
          <a:prstGeom prst="line">
            <a:avLst/>
          </a:prstGeom>
          <a:noFill/>
          <a:ln w="38100">
            <a:solidFill>
              <a:srgbClr val="14213D"/>
            </a:solidFill>
            <a:prstDash val="solid"/>
          </a:ln>
        </p:spPr>
      </p:sp>
      <p:sp>
        <p:nvSpPr>
          <p:cNvPr id="15" name="Text 11"/>
          <p:cNvSpPr/>
          <p:nvPr/>
        </p:nvSpPr>
        <p:spPr>
          <a:xfrm>
            <a:off x="8365083" y="3670300"/>
            <a:ext cx="310454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9"/>
                </a:solidFill>
                <a:latin typeface="Libre Baskerville" pitchFamily="18" charset="0"/>
                <a:ea typeface="Libre Baskerville" pitchFamily="18" charset="-122"/>
                <a:cs typeface="Libre Baskerville" pitchFamily="18" charset="-120"/>
              </a:rPr>
              <a:t>3</a:t>
            </a:r>
            <a:endParaRPr lang="en-US" sz="4800" dirty="0"/>
          </a:p>
        </p:txBody>
      </p:sp>
      <p:sp>
        <p:nvSpPr>
          <p:cNvPr id="16" name="Text 12"/>
          <p:cNvSpPr/>
          <p:nvPr/>
        </p:nvSpPr>
        <p:spPr>
          <a:xfrm>
            <a:off x="8365083" y="4356100"/>
            <a:ext cx="310454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The most urgent call comes first</a:t>
            </a:r>
            <a:endParaRPr lang="en-US" sz="2000" dirty="0"/>
          </a:p>
        </p:txBody>
      </p:sp>
      <p:sp>
        <p:nvSpPr>
          <p:cNvPr id="17" name="Text 13"/>
          <p:cNvSpPr/>
          <p:nvPr/>
        </p:nvSpPr>
        <p:spPr>
          <a:xfrm>
            <a:off x="8365083" y="5041900"/>
            <a:ext cx="310454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Organizations get a ranked call list, with the reason next to every name.</a:t>
            </a:r>
            <a:endParaRPr lang="en-US" sz="1500" dirty="0"/>
          </a:p>
        </p:txBody>
      </p:sp>
      <p:sp>
        <p:nvSpPr>
          <p:cNvPr id="18"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F"/>
                </a:solidFill>
                <a:latin typeface="Public Sans" pitchFamily="34" charset="0"/>
                <a:ea typeface="Public Sans" pitchFamily="34" charset="-122"/>
                <a:cs typeface="Public Sans" pitchFamily="34" charset="-120"/>
              </a:rPr>
              <a:t>Outage data: LUMA's public feed. All patients in the demo are fictional.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9"/>
                </a:solidFill>
                <a:latin typeface="Public Sans" pitchFamily="34" charset="0"/>
                <a:ea typeface="Public Sans" pitchFamily="34" charset="-122"/>
                <a:cs typeface="Public Sans" pitchFamily="34" charset="-120"/>
              </a:rPr>
              <a:t>What we built</a:t>
            </a:r>
            <a:endParaRPr lang="en-US" sz="1400" dirty="0"/>
          </a:p>
        </p:txBody>
      </p:sp>
      <p:sp>
        <p:nvSpPr>
          <p:cNvPr id="3" name="Text 1"/>
          <p:cNvSpPr/>
          <p:nvPr/>
        </p:nvSpPr>
        <p:spPr>
          <a:xfrm>
            <a:off x="812800" y="1188690"/>
            <a:ext cx="9810750" cy="992584"/>
          </a:xfrm>
          <a:prstGeom prst="rect">
            <a:avLst/>
          </a:prstGeom>
          <a:noFill/>
          <a:ln/>
        </p:spPr>
        <p:txBody>
          <a:bodyPr wrap="square" lIns="0" tIns="0" rIns="0" bIns="0" rtlCol="0" anchor="t">
            <a:normAutofit/>
          </a:bodyPr>
          <a:lstStyle/>
          <a:p>
            <a:pPr algn="l" indent="0" marL="0">
              <a:lnSpc>
                <a:spcPts val="3808"/>
              </a:lnSpc>
              <a:buNone/>
            </a:pPr>
            <a:r>
              <a:rPr lang="en-US" sz="3400" b="1" dirty="0">
                <a:solidFill>
                  <a:srgbClr val="14213D"/>
                </a:solidFill>
                <a:latin typeface="Libre Baskerville" pitchFamily="18" charset="0"/>
                <a:ea typeface="Libre Baskerville" pitchFamily="18" charset="-122"/>
                <a:cs typeface="Libre Baskerville" pitchFamily="18" charset="-120"/>
              </a:rPr>
              <a:t>One app, three views. Each person sees only their part.</a:t>
            </a:r>
            <a:endParaRPr lang="en-US" sz="3400" dirty="0"/>
          </a:p>
        </p:txBody>
      </p:sp>
      <p:sp>
        <p:nvSpPr>
          <p:cNvPr id="4" name="Shape 2"/>
          <p:cNvSpPr/>
          <p:nvPr/>
        </p:nvSpPr>
        <p:spPr>
          <a:xfrm>
            <a:off x="815975" y="2702967"/>
            <a:ext cx="3380284" cy="1708150"/>
          </a:xfrm>
          <a:prstGeom prst="roundRect">
            <a:avLst>
              <a:gd name="adj" fmla="val 5762"/>
            </a:avLst>
          </a:prstGeom>
          <a:solidFill>
            <a:srgbClr val="FFFFFF"/>
          </a:solidFill>
          <a:ln w="6350">
            <a:solidFill>
              <a:srgbClr val="DDD6C8"/>
            </a:solidFill>
            <a:prstDash val="solid"/>
          </a:ln>
        </p:spPr>
      </p:sp>
      <p:sp>
        <p:nvSpPr>
          <p:cNvPr id="5" name="Text 3"/>
          <p:cNvSpPr/>
          <p:nvPr/>
        </p:nvSpPr>
        <p:spPr>
          <a:xfrm>
            <a:off x="1073150" y="2960142"/>
            <a:ext cx="311993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Patients and caregivers</a:t>
            </a:r>
            <a:endParaRPr lang="en-US" sz="2000" dirty="0"/>
          </a:p>
        </p:txBody>
      </p:sp>
      <p:sp>
        <p:nvSpPr>
          <p:cNvPr id="6" name="Text 4"/>
          <p:cNvSpPr/>
          <p:nvPr/>
        </p:nvSpPr>
        <p:spPr>
          <a:xfrm>
            <a:off x="1073150" y="3353842"/>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Register by voice. Answer one question when the power goes out. See who took the case.</a:t>
            </a:r>
            <a:endParaRPr lang="en-US" sz="1500" dirty="0"/>
          </a:p>
        </p:txBody>
      </p:sp>
      <p:sp>
        <p:nvSpPr>
          <p:cNvPr id="7" name="Shape 5"/>
          <p:cNvSpPr/>
          <p:nvPr/>
        </p:nvSpPr>
        <p:spPr>
          <a:xfrm>
            <a:off x="4405809" y="2702967"/>
            <a:ext cx="3380333" cy="1708150"/>
          </a:xfrm>
          <a:prstGeom prst="roundRect">
            <a:avLst>
              <a:gd name="adj" fmla="val 5762"/>
            </a:avLst>
          </a:prstGeom>
          <a:solidFill>
            <a:srgbClr val="FFFFFF"/>
          </a:solidFill>
          <a:ln w="6350">
            <a:solidFill>
              <a:srgbClr val="DDD6C8"/>
            </a:solidFill>
            <a:prstDash val="solid"/>
          </a:ln>
        </p:spPr>
      </p:sp>
      <p:sp>
        <p:nvSpPr>
          <p:cNvPr id="8" name="Text 6"/>
          <p:cNvSpPr/>
          <p:nvPr/>
        </p:nvSpPr>
        <p:spPr>
          <a:xfrm>
            <a:off x="4662984" y="2960142"/>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Organizations</a:t>
            </a:r>
            <a:endParaRPr lang="en-US" sz="2000" dirty="0"/>
          </a:p>
        </p:txBody>
      </p:sp>
      <p:sp>
        <p:nvSpPr>
          <p:cNvPr id="9" name="Text 7"/>
          <p:cNvSpPr/>
          <p:nvPr/>
        </p:nvSpPr>
        <p:spPr>
          <a:xfrm>
            <a:off x="4662984" y="3353842"/>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A ranked call list for their towns. Take a case, get a call script, record what happened.</a:t>
            </a:r>
            <a:endParaRPr lang="en-US" sz="1500" dirty="0"/>
          </a:p>
        </p:txBody>
      </p:sp>
      <p:sp>
        <p:nvSpPr>
          <p:cNvPr id="10" name="Shape 8"/>
          <p:cNvSpPr/>
          <p:nvPr/>
        </p:nvSpPr>
        <p:spPr>
          <a:xfrm>
            <a:off x="7995692" y="2702967"/>
            <a:ext cx="3380333" cy="1708150"/>
          </a:xfrm>
          <a:prstGeom prst="roundRect">
            <a:avLst>
              <a:gd name="adj" fmla="val 5762"/>
            </a:avLst>
          </a:prstGeom>
          <a:solidFill>
            <a:srgbClr val="FFFFFF"/>
          </a:solidFill>
          <a:ln w="6350">
            <a:solidFill>
              <a:srgbClr val="DDD6C8"/>
            </a:solidFill>
            <a:prstDash val="solid"/>
          </a:ln>
        </p:spPr>
      </p:sp>
      <p:sp>
        <p:nvSpPr>
          <p:cNvPr id="11" name="Text 9"/>
          <p:cNvSpPr/>
          <p:nvPr/>
        </p:nvSpPr>
        <p:spPr>
          <a:xfrm>
            <a:off x="8252867" y="2960142"/>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Public Sans" pitchFamily="34" charset="0"/>
                <a:ea typeface="Public Sans" pitchFamily="34" charset="-122"/>
                <a:cs typeface="Public Sans" pitchFamily="34" charset="-120"/>
              </a:rPr>
              <a:t>Administrators</a:t>
            </a:r>
            <a:endParaRPr lang="en-US" sz="2000" dirty="0"/>
          </a:p>
        </p:txBody>
      </p:sp>
      <p:sp>
        <p:nvSpPr>
          <p:cNvPr id="12" name="Text 10"/>
          <p:cNvSpPr/>
          <p:nvPr/>
        </p:nvSpPr>
        <p:spPr>
          <a:xfrm>
            <a:off x="8252867" y="3353842"/>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Approve organizations, follow every LUMA reading, and spot patients nobody covers.</a:t>
            </a:r>
            <a:endParaRPr lang="en-US" sz="1500" dirty="0"/>
          </a:p>
        </p:txBody>
      </p:sp>
      <p:sp>
        <p:nvSpPr>
          <p:cNvPr id="13" name="Shape 11"/>
          <p:cNvSpPr/>
          <p:nvPr/>
        </p:nvSpPr>
        <p:spPr>
          <a:xfrm>
            <a:off x="812800" y="4958159"/>
            <a:ext cx="10566400" cy="883841"/>
          </a:xfrm>
          <a:prstGeom prst="roundRect">
            <a:avLst>
              <a:gd name="adj" fmla="val 11495"/>
            </a:avLst>
          </a:prstGeom>
          <a:solidFill>
            <a:srgbClr val="14213D"/>
          </a:solidFill>
          <a:ln/>
        </p:spPr>
      </p:sp>
      <p:sp>
        <p:nvSpPr>
          <p:cNvPr id="14" name="Text 12"/>
          <p:cNvSpPr/>
          <p:nvPr/>
        </p:nvSpPr>
        <p:spPr>
          <a:xfrm>
            <a:off x="1066800" y="5275610"/>
            <a:ext cx="879425"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58C9C1"/>
                </a:solidFill>
                <a:latin typeface="Public Sans" pitchFamily="34" charset="0"/>
                <a:ea typeface="Public Sans" pitchFamily="34" charset="-122"/>
                <a:cs typeface="Public Sans" pitchFamily="34" charset="-120"/>
              </a:rPr>
              <a:t>Live demo</a:t>
            </a:r>
            <a:endParaRPr lang="en-US" sz="1400" dirty="0"/>
          </a:p>
        </p:txBody>
      </p:sp>
      <p:sp>
        <p:nvSpPr>
          <p:cNvPr id="15" name="Text 13"/>
          <p:cNvSpPr/>
          <p:nvPr/>
        </p:nvSpPr>
        <p:spPr>
          <a:xfrm>
            <a:off x="2047825" y="5135959"/>
            <a:ext cx="934969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1EA"/>
                </a:solidFill>
                <a:latin typeface="Public Sans" pitchFamily="34" charset="0"/>
                <a:ea typeface="Public Sans" pitchFamily="34" charset="-122"/>
                <a:cs typeface="Public Sans" pitchFamily="34" charset="-120"/>
              </a:rPr>
              <a:t>One patient, start to finish, on a real outage we recorded this week. English or Spanish, light or dark.</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F"/>
                </a:solidFill>
                <a:latin typeface="Public Sans" pitchFamily="34" charset="0"/>
                <a:ea typeface="Public Sans" pitchFamily="34" charset="-122"/>
                <a:cs typeface="Public Sans" pitchFamily="34" charset="-120"/>
              </a:rPr>
              <a:t>Demo sign-in only: the app holds fictional patients.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0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C9C1"/>
                </a:solidFill>
                <a:latin typeface="Public Sans" pitchFamily="34" charset="0"/>
                <a:ea typeface="Public Sans" pitchFamily="34" charset="-122"/>
                <a:cs typeface="Public Sans" pitchFamily="34" charset="-120"/>
              </a:rPr>
              <a:t>Why you can trust the order</a:t>
            </a:r>
            <a:endParaRPr lang="en-US" sz="1400" dirty="0"/>
          </a:p>
        </p:txBody>
      </p:sp>
      <p:sp>
        <p:nvSpPr>
          <p:cNvPr id="3" name="Text 1"/>
          <p:cNvSpPr/>
          <p:nvPr/>
        </p:nvSpPr>
        <p:spPr>
          <a:xfrm>
            <a:off x="812800" y="1188690"/>
            <a:ext cx="10203180" cy="1198860"/>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F4F1EA"/>
                </a:solidFill>
                <a:latin typeface="Libre Baskerville" pitchFamily="18" charset="0"/>
                <a:ea typeface="Libre Baskerville" pitchFamily="18" charset="-122"/>
                <a:cs typeface="Libre Baskerville" pitchFamily="18" charset="-120"/>
              </a:rPr>
              <a:t>The AI never decides who goes first.</a:t>
            </a:r>
            <a:endParaRPr lang="en-US" sz="4200" dirty="0"/>
          </a:p>
        </p:txBody>
      </p:sp>
      <p:sp>
        <p:nvSpPr>
          <p:cNvPr id="4" name="Shape 2"/>
          <p:cNvSpPr/>
          <p:nvPr/>
        </p:nvSpPr>
        <p:spPr>
          <a:xfrm>
            <a:off x="812800" y="3730625"/>
            <a:ext cx="5130800" cy="0"/>
          </a:xfrm>
          <a:prstGeom prst="line">
            <a:avLst/>
          </a:prstGeom>
          <a:noFill/>
          <a:ln w="25400">
            <a:solidFill>
              <a:srgbClr val="58C9C1"/>
            </a:solidFill>
            <a:prstDash val="solid"/>
          </a:ln>
        </p:spPr>
      </p:sp>
      <p:sp>
        <p:nvSpPr>
          <p:cNvPr id="5" name="Text 3"/>
          <p:cNvSpPr/>
          <p:nvPr/>
        </p:nvSpPr>
        <p:spPr>
          <a:xfrm>
            <a:off x="812800" y="3946525"/>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1EA"/>
                </a:solidFill>
                <a:latin typeface="Public Sans" pitchFamily="34" charset="0"/>
                <a:ea typeface="Public Sans" pitchFamily="34" charset="-122"/>
                <a:cs typeface="Public Sans" pitchFamily="34" charset="-120"/>
              </a:rPr>
              <a:t>Fixed rules set the order</a:t>
            </a:r>
            <a:endParaRPr lang="en-US" sz="2000" dirty="0"/>
          </a:p>
        </p:txBody>
      </p:sp>
      <p:sp>
        <p:nvSpPr>
          <p:cNvPr id="6" name="Text 4"/>
          <p:cNvSpPr/>
          <p:nvPr/>
        </p:nvSpPr>
        <p:spPr>
          <a:xfrm>
            <a:off x="864870" y="4365625"/>
            <a:ext cx="5225796" cy="140652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b="1" dirty="0">
                <a:solidFill>
                  <a:srgbClr val="B9C4D6"/>
                </a:solidFill>
                <a:latin typeface="Public Sans" pitchFamily="34" charset="0"/>
                <a:ea typeface="Public Sans" pitchFamily="34" charset="-122"/>
                <a:cs typeface="Public Sans" pitchFamily="34" charset="-120"/>
              </a:rPr>
              <a:t>Call now:</a:t>
            </a:r>
            <a:r>
              <a:rPr lang="en-US" sz="1500" dirty="0">
                <a:solidFill>
                  <a:srgbClr val="B9C4D6"/>
                </a:solidFill>
                <a:latin typeface="Public Sans" pitchFamily="34" charset="0"/>
                <a:ea typeface="Public Sans" pitchFamily="34" charset="-122"/>
                <a:cs typeface="Public Sans" pitchFamily="34" charset="-120"/>
              </a:rPr>
              <a:t> no power, and 4 hours of battery or less. Or no answer from someone on oxygen, a ventilator or CPAP.</a:t>
            </a:r>
            <a:endParaRPr lang="en-US" sz="1500" dirty="0"/>
          </a:p>
          <a:p>
            <a:pPr algn="l" marL="176530" indent="-176530">
              <a:lnSpc>
                <a:spcPts val="2175"/>
              </a:lnSpc>
              <a:buSzPct val="100000"/>
              <a:buChar char="•"/>
            </a:pPr>
            <a:r>
              <a:rPr lang="en-US" sz="1500" b="1" dirty="0">
                <a:solidFill>
                  <a:srgbClr val="B9C4D6"/>
                </a:solidFill>
                <a:latin typeface="Public Sans" pitchFamily="34" charset="0"/>
                <a:ea typeface="Public Sans" pitchFamily="34" charset="-122"/>
                <a:cs typeface="Public Sans" pitchFamily="34" charset="-120"/>
              </a:rPr>
              <a:t>Call soon:</a:t>
            </a:r>
            <a:r>
              <a:rPr lang="en-US" sz="1500" dirty="0">
                <a:solidFill>
                  <a:srgbClr val="B9C4D6"/>
                </a:solidFill>
                <a:latin typeface="Public Sans" pitchFamily="34" charset="0"/>
                <a:ea typeface="Public Sans" pitchFamily="34" charset="-122"/>
                <a:cs typeface="Public Sans" pitchFamily="34" charset="-120"/>
              </a:rPr>
              <a:t> no power, and insulin in the fridge.</a:t>
            </a:r>
            <a:endParaRPr lang="en-US" sz="1500" dirty="0"/>
          </a:p>
          <a:p>
            <a:pPr algn="l" marL="176530" indent="-176530">
              <a:lnSpc>
                <a:spcPts val="2175"/>
              </a:lnSpc>
              <a:buSzPct val="100000"/>
              <a:buChar char="•"/>
            </a:pPr>
            <a:r>
              <a:rPr lang="en-US" sz="1500" b="1" dirty="0">
                <a:solidFill>
                  <a:srgbClr val="B9C4D6"/>
                </a:solidFill>
                <a:latin typeface="Public Sans" pitchFamily="34" charset="0"/>
                <a:ea typeface="Public Sans" pitchFamily="34" charset="-122"/>
                <a:cs typeface="Public Sans" pitchFamily="34" charset="-120"/>
              </a:rPr>
              <a:t>To confirm:</a:t>
            </a:r>
            <a:r>
              <a:rPr lang="en-US" sz="1500" dirty="0">
                <a:solidFill>
                  <a:srgbClr val="B9C4D6"/>
                </a:solidFill>
                <a:latin typeface="Public Sans" pitchFamily="34" charset="0"/>
                <a:ea typeface="Public Sans" pitchFamily="34" charset="-122"/>
                <a:cs typeface="Public Sans" pitchFamily="34" charset="-120"/>
              </a:rPr>
              <a:t> a possible outage nobody has confirmed yet.</a:t>
            </a:r>
            <a:endParaRPr lang="en-US" sz="1500" dirty="0"/>
          </a:p>
        </p:txBody>
      </p:sp>
      <p:sp>
        <p:nvSpPr>
          <p:cNvPr id="7" name="Shape 5"/>
          <p:cNvSpPr/>
          <p:nvPr/>
        </p:nvSpPr>
        <p:spPr>
          <a:xfrm>
            <a:off x="6248400" y="3730625"/>
            <a:ext cx="5130800" cy="0"/>
          </a:xfrm>
          <a:prstGeom prst="line">
            <a:avLst/>
          </a:prstGeom>
          <a:noFill/>
          <a:ln w="25400">
            <a:solidFill>
              <a:srgbClr val="58C9C1"/>
            </a:solidFill>
            <a:prstDash val="solid"/>
          </a:ln>
        </p:spPr>
      </p:sp>
      <p:sp>
        <p:nvSpPr>
          <p:cNvPr id="8" name="Text 6"/>
          <p:cNvSpPr/>
          <p:nvPr/>
        </p:nvSpPr>
        <p:spPr>
          <a:xfrm>
            <a:off x="6248400" y="3946525"/>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1EA"/>
                </a:solidFill>
                <a:latin typeface="Public Sans" pitchFamily="34" charset="0"/>
                <a:ea typeface="Public Sans" pitchFamily="34" charset="-122"/>
                <a:cs typeface="Public Sans" pitchFamily="34" charset="-120"/>
              </a:rPr>
              <a:t>AI only saves people time</a:t>
            </a:r>
            <a:endParaRPr lang="en-US" sz="2000" dirty="0"/>
          </a:p>
        </p:txBody>
      </p:sp>
      <p:sp>
        <p:nvSpPr>
          <p:cNvPr id="9" name="Text 7"/>
          <p:cNvSpPr/>
          <p:nvPr/>
        </p:nvSpPr>
        <p:spPr>
          <a:xfrm>
            <a:off x="6300470" y="4365625"/>
            <a:ext cx="5225796" cy="85407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B9C4D6"/>
                </a:solidFill>
                <a:latin typeface="Public Sans" pitchFamily="34" charset="0"/>
                <a:ea typeface="Public Sans" pitchFamily="34" charset="-122"/>
                <a:cs typeface="Public Sans" pitchFamily="34" charset="-120"/>
              </a:rPr>
              <a:t>Fills in the form from what the caregiver says.</a:t>
            </a:r>
            <a:endParaRPr lang="en-US" sz="1500" dirty="0"/>
          </a:p>
          <a:p>
            <a:pPr algn="l" marL="176530" indent="-176530">
              <a:lnSpc>
                <a:spcPts val="2175"/>
              </a:lnSpc>
              <a:buSzPct val="100000"/>
              <a:buChar char="•"/>
            </a:pPr>
            <a:r>
              <a:rPr lang="en-US" sz="1500" dirty="0">
                <a:solidFill>
                  <a:srgbClr val="B9C4D6"/>
                </a:solidFill>
                <a:latin typeface="Public Sans" pitchFamily="34" charset="0"/>
                <a:ea typeface="Public Sans" pitchFamily="34" charset="-122"/>
                <a:cs typeface="Public Sans" pitchFamily="34" charset="-120"/>
              </a:rPr>
              <a:t>Reads the family's reply for the coordinator.</a:t>
            </a:r>
            <a:endParaRPr lang="en-US" sz="1500" dirty="0"/>
          </a:p>
          <a:p>
            <a:pPr algn="l" marL="176530" indent="-176530">
              <a:lnSpc>
                <a:spcPts val="2175"/>
              </a:lnSpc>
              <a:buSzPct val="100000"/>
              <a:buChar char="•"/>
            </a:pPr>
            <a:r>
              <a:rPr lang="en-US" sz="1500" dirty="0">
                <a:solidFill>
                  <a:srgbClr val="B9C4D6"/>
                </a:solidFill>
                <a:latin typeface="Public Sans" pitchFamily="34" charset="0"/>
                <a:ea typeface="Public Sans" pitchFamily="34" charset="-122"/>
                <a:cs typeface="Public Sans" pitchFamily="34" charset="-120"/>
              </a:rPr>
              <a:t>Drafts the call script.</a:t>
            </a:r>
            <a:endParaRPr lang="en-US" sz="1500" dirty="0"/>
          </a:p>
        </p:txBody>
      </p:sp>
      <p:sp>
        <p:nvSpPr>
          <p:cNvPr id="10" name="Text 8"/>
          <p:cNvSpPr/>
          <p:nvPr/>
        </p:nvSpPr>
        <p:spPr>
          <a:xfrm>
            <a:off x="6248400" y="5308600"/>
            <a:ext cx="528472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1EA"/>
                </a:solidFill>
                <a:latin typeface="Public Sans" pitchFamily="34" charset="0"/>
                <a:ea typeface="Public Sans" pitchFamily="34" charset="-122"/>
                <a:cs typeface="Public Sans" pitchFamily="34" charset="-120"/>
              </a:rPr>
              <a:t>A person checks each one. If the AI is down, people do the step by hand.</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D6"/>
                </a:solidFill>
                <a:latin typeface="Public Sans" pitchFamily="34" charset="0"/>
                <a:ea typeface="Public Sans" pitchFamily="34" charset="-122"/>
                <a:cs typeface="Public Sans" pitchFamily="34" charset="-120"/>
              </a:rPr>
              <a:t>AI: Claude, by Anthropic. Every position on the list shows its reason.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9"/>
                </a:solidFill>
                <a:latin typeface="Public Sans" pitchFamily="34" charset="0"/>
                <a:ea typeface="Public Sans" pitchFamily="34" charset="-122"/>
                <a:cs typeface="Public Sans" pitchFamily="34" charset="-120"/>
              </a:rPr>
              <a:t>What makes it different, and what comes next</a:t>
            </a:r>
            <a:endParaRPr lang="en-US" sz="1400" dirty="0"/>
          </a:p>
        </p:txBody>
      </p:sp>
      <p:sp>
        <p:nvSpPr>
          <p:cNvPr id="3" name="Text 1"/>
          <p:cNvSpPr/>
          <p:nvPr/>
        </p:nvSpPr>
        <p:spPr>
          <a:xfrm>
            <a:off x="812800" y="1188690"/>
            <a:ext cx="10203180" cy="951905"/>
          </a:xfrm>
          <a:prstGeom prst="rect">
            <a:avLst/>
          </a:prstGeom>
          <a:noFill/>
          <a:ln/>
        </p:spPr>
        <p:txBody>
          <a:bodyPr wrap="square" lIns="0" tIns="0" rIns="0" bIns="0" rtlCol="0" anchor="t">
            <a:normAutofit/>
          </a:bodyPr>
          <a:lstStyle/>
          <a:p>
            <a:pPr algn="l" indent="0" marL="0">
              <a:lnSpc>
                <a:spcPts val="3648"/>
              </a:lnSpc>
              <a:buNone/>
            </a:pPr>
            <a:r>
              <a:rPr lang="en-US" sz="3200" b="1" dirty="0">
                <a:solidFill>
                  <a:srgbClr val="14213D"/>
                </a:solidFill>
                <a:latin typeface="Libre Baskerville" pitchFamily="18" charset="0"/>
                <a:ea typeface="Libre Baskerville" pitchFamily="18" charset="-122"/>
                <a:cs typeface="Libre Baskerville" pitchFamily="18" charset="-120"/>
              </a:rPr>
              <a:t>The federal map tells you how many. </a:t>
            </a:r>
            <a:r>
              <a:rPr lang="en-US" sz="3200" b="1" dirty="0">
                <a:solidFill>
                  <a:srgbClr val="0B6E69"/>
                </a:solidFill>
                <a:latin typeface="Libre Baskerville" pitchFamily="18" charset="0"/>
                <a:ea typeface="Libre Baskerville" pitchFamily="18" charset="-122"/>
                <a:cs typeface="Libre Baskerville" pitchFamily="18" charset="-120"/>
              </a:rPr>
              <a:t>VitalPower tells you who to call first.</a:t>
            </a:r>
            <a:endParaRPr lang="en-US" sz="3200" dirty="0"/>
          </a:p>
        </p:txBody>
      </p:sp>
      <p:sp>
        <p:nvSpPr>
          <p:cNvPr id="4" name="Text 2"/>
          <p:cNvSpPr/>
          <p:nvPr/>
        </p:nvSpPr>
        <p:spPr>
          <a:xfrm>
            <a:off x="812800" y="2242195"/>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05F"/>
                </a:solidFill>
                <a:latin typeface="Public Sans" pitchFamily="34" charset="0"/>
                <a:ea typeface="Public Sans" pitchFamily="34" charset="-122"/>
                <a:cs typeface="Public Sans" pitchFamily="34" charset="-120"/>
              </a:rPr>
              <a:t>HHS emPOWER publishes counts of Medicare patients by ZIP code. Names go only to health authorities, during an emergency, and only for Medicare. People on Plan Vital or private plans are not in it.</a:t>
            </a:r>
            <a:endParaRPr lang="en-US" sz="1500" dirty="0"/>
          </a:p>
        </p:txBody>
      </p:sp>
      <p:sp>
        <p:nvSpPr>
          <p:cNvPr id="5" name="Shape 3"/>
          <p:cNvSpPr/>
          <p:nvPr/>
        </p:nvSpPr>
        <p:spPr>
          <a:xfrm>
            <a:off x="812800" y="3515568"/>
            <a:ext cx="3378200" cy="2326432"/>
          </a:xfrm>
          <a:prstGeom prst="roundRect">
            <a:avLst>
              <a:gd name="adj" fmla="val 4367"/>
            </a:avLst>
          </a:prstGeom>
          <a:solidFill>
            <a:srgbClr val="14213D"/>
          </a:solidFill>
          <a:ln/>
        </p:spPr>
      </p:sp>
      <p:sp>
        <p:nvSpPr>
          <p:cNvPr id="6" name="Text 4"/>
          <p:cNvSpPr/>
          <p:nvPr/>
        </p:nvSpPr>
        <p:spPr>
          <a:xfrm>
            <a:off x="1066800" y="3744168"/>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1EA"/>
                </a:solidFill>
                <a:latin typeface="Public Sans" pitchFamily="34" charset="0"/>
                <a:ea typeface="Public Sans" pitchFamily="34" charset="-122"/>
                <a:cs typeface="Public Sans" pitchFamily="34" charset="-120"/>
              </a:rPr>
              <a:t>A power sensor in the home</a:t>
            </a:r>
            <a:endParaRPr lang="en-US" sz="1800" dirty="0"/>
          </a:p>
        </p:txBody>
      </p:sp>
      <p:sp>
        <p:nvSpPr>
          <p:cNvPr id="7" name="Text 5"/>
          <p:cNvSpPr/>
          <p:nvPr/>
        </p:nvSpPr>
        <p:spPr>
          <a:xfrm>
            <a:off x="1066800" y="4368949"/>
            <a:ext cx="2956306"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D6"/>
                </a:solidFill>
                <a:latin typeface="Public Sans" pitchFamily="34" charset="0"/>
                <a:ea typeface="Public Sans" pitchFamily="34" charset="-122"/>
                <a:cs typeface="Public Sans" pitchFamily="34" charset="-120"/>
              </a:rPr>
              <a:t>A small plug-in device with its own battery and cell signal. It tells us the moment the power goes out, without waiting on the electric company's data.</a:t>
            </a:r>
            <a:endParaRPr lang="en-US" sz="1400" dirty="0"/>
          </a:p>
        </p:txBody>
      </p:sp>
      <p:sp>
        <p:nvSpPr>
          <p:cNvPr id="8" name="Shape 6"/>
          <p:cNvSpPr/>
          <p:nvPr/>
        </p:nvSpPr>
        <p:spPr>
          <a:xfrm>
            <a:off x="4397375" y="3518743"/>
            <a:ext cx="3384550" cy="2320082"/>
          </a:xfrm>
          <a:prstGeom prst="roundRect">
            <a:avLst>
              <a:gd name="adj" fmla="val 4242"/>
            </a:avLst>
          </a:prstGeom>
          <a:solidFill>
            <a:srgbClr val="FFFFFF"/>
          </a:solidFill>
          <a:ln w="6350">
            <a:solidFill>
              <a:srgbClr val="DDD6C8"/>
            </a:solidFill>
            <a:prstDash val="solid"/>
          </a:ln>
        </p:spPr>
      </p:sp>
      <p:sp>
        <p:nvSpPr>
          <p:cNvPr id="9" name="Text 7"/>
          <p:cNvSpPr/>
          <p:nvPr/>
        </p:nvSpPr>
        <p:spPr>
          <a:xfrm>
            <a:off x="4654550" y="3750518"/>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Public Sans" pitchFamily="34" charset="0"/>
                <a:ea typeface="Public Sans" pitchFamily="34" charset="-122"/>
                <a:cs typeface="Public Sans" pitchFamily="34" charset="-120"/>
              </a:rPr>
              <a:t>Text messages</a:t>
            </a:r>
            <a:endParaRPr lang="en-US" sz="1800" dirty="0"/>
          </a:p>
        </p:txBody>
      </p:sp>
      <p:sp>
        <p:nvSpPr>
          <p:cNvPr id="10" name="Text 8"/>
          <p:cNvSpPr/>
          <p:nvPr/>
        </p:nvSpPr>
        <p:spPr>
          <a:xfrm>
            <a:off x="4654550" y="4101009"/>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F"/>
                </a:solidFill>
                <a:latin typeface="Public Sans" pitchFamily="34" charset="0"/>
                <a:ea typeface="Public Sans" pitchFamily="34" charset="-122"/>
                <a:cs typeface="Public Sans" pitchFamily="34" charset="-120"/>
              </a:rPr>
              <a:t>Send the outage question straight to the family's phone.</a:t>
            </a:r>
            <a:endParaRPr lang="en-US" sz="1400" dirty="0"/>
          </a:p>
        </p:txBody>
      </p:sp>
      <p:sp>
        <p:nvSpPr>
          <p:cNvPr id="11" name="Shape 9"/>
          <p:cNvSpPr/>
          <p:nvPr/>
        </p:nvSpPr>
        <p:spPr>
          <a:xfrm>
            <a:off x="7991475" y="3518743"/>
            <a:ext cx="3384550" cy="2320082"/>
          </a:xfrm>
          <a:prstGeom prst="roundRect">
            <a:avLst>
              <a:gd name="adj" fmla="val 4242"/>
            </a:avLst>
          </a:prstGeom>
          <a:solidFill>
            <a:srgbClr val="FFFFFF"/>
          </a:solidFill>
          <a:ln w="6350">
            <a:solidFill>
              <a:srgbClr val="DDD6C8"/>
            </a:solidFill>
            <a:prstDash val="solid"/>
          </a:ln>
        </p:spPr>
      </p:sp>
      <p:sp>
        <p:nvSpPr>
          <p:cNvPr id="12" name="Text 10"/>
          <p:cNvSpPr/>
          <p:nvPr/>
        </p:nvSpPr>
        <p:spPr>
          <a:xfrm>
            <a:off x="8248650" y="3750518"/>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Public Sans" pitchFamily="34" charset="0"/>
                <a:ea typeface="Public Sans" pitchFamily="34" charset="-122"/>
                <a:cs typeface="Public Sans" pitchFamily="34" charset="-120"/>
              </a:rPr>
              <a:t>A first pilot</a:t>
            </a:r>
            <a:endParaRPr lang="en-US" sz="1800" dirty="0"/>
          </a:p>
        </p:txBody>
      </p:sp>
      <p:sp>
        <p:nvSpPr>
          <p:cNvPr id="13" name="Text 11"/>
          <p:cNvSpPr/>
          <p:nvPr/>
        </p:nvSpPr>
        <p:spPr>
          <a:xfrm>
            <a:off x="8248650" y="4101009"/>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05F"/>
                </a:solidFill>
                <a:latin typeface="Public Sans" pitchFamily="34" charset="0"/>
                <a:ea typeface="Public Sans" pitchFamily="34" charset="-122"/>
                <a:cs typeface="Public Sans" pitchFamily="34" charset="-120"/>
              </a:rPr>
              <a:t>One health plan or municipality, real sign-in, and real patients who choose to join.</a:t>
            </a:r>
            <a:endParaRPr lang="en-US" sz="1400" dirty="0"/>
          </a:p>
        </p:txBody>
      </p:sp>
      <p:pic>
        <p:nvPicPr>
          <p:cNvPr id="14" name="Image 0" descr="VitalPower logo">    </p:cNvPr>
          <p:cNvPicPr>
            <a:picLocks noChangeAspect="1"/>
          </p:cNvPicPr>
          <p:nvPr/>
        </p:nvPicPr>
        <p:blipFill>
          <a:blip r:embed="rId1"/>
          <a:srcRect l="0" r="0" t="0" b="0"/>
          <a:stretch/>
        </p:blipFill>
        <p:spPr>
          <a:xfrm>
            <a:off x="10185400" y="6172200"/>
            <a:ext cx="1193800" cy="406400"/>
          </a:xfrm>
          <a:prstGeom prst="rect">
            <a:avLst/>
          </a:prstGeom>
        </p:spPr>
      </p:pic>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F"/>
                </a:solidFill>
                <a:latin typeface="Public Sans" pitchFamily="34" charset="0"/>
                <a:ea typeface="Public Sans" pitchFamily="34" charset="-122"/>
                <a:cs typeface="Public Sans" pitchFamily="34" charset="-120"/>
              </a:rPr>
              <a:t>Thank you. [Team names] · [contact]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VitalPower pitch deck</dc:title>
  <dc:subject/>
  <dc:creator/>
  <cp:lastModifiedBy/>
  <cp:revision>1</cp:revision>
  <dcterms:created xsi:type="dcterms:W3CDTF">2026-10-09T23:08:55Z</dcterms:created>
  <dcterms:modified xsi:type="dcterms:W3CDTF">2026-10-09T23:08:55Z</dcterms:modified>
</cp:coreProperties>
</file>